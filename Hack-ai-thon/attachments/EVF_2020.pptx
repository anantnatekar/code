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6"/>
  </p:sldMasterIdLst>
  <p:notesMasterIdLst>
    <p:notesMasterId r:id="rId20"/>
  </p:notesMasterIdLst>
  <p:handoutMasterIdLst>
    <p:handoutMasterId r:id="rId21"/>
  </p:handoutMasterIdLst>
  <p:sldIdLst>
    <p:sldId id="256" r:id="rId7"/>
    <p:sldId id="270" r:id="rId8"/>
    <p:sldId id="276" r:id="rId9"/>
    <p:sldId id="280" r:id="rId10"/>
    <p:sldId id="278" r:id="rId11"/>
    <p:sldId id="279" r:id="rId12"/>
    <p:sldId id="271" r:id="rId13"/>
    <p:sldId id="264" r:id="rId14"/>
    <p:sldId id="269" r:id="rId15"/>
    <p:sldId id="284" r:id="rId16"/>
    <p:sldId id="274" r:id="rId17"/>
    <p:sldId id="282" r:id="rId18"/>
    <p:sldId id="283" r:id="rId19"/>
  </p:sldIdLst>
  <p:sldSz cx="12192000" cy="6858000"/>
  <p:notesSz cx="7315200" cy="9601200"/>
  <p:custDataLst>
    <p:tags r:id="rId22"/>
  </p:custDataLst>
  <p:defaultTextStyle>
    <a:defPPr>
      <a:defRPr lang="en-US"/>
    </a:defPPr>
    <a:lvl1pPr marL="0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33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064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596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128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661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194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725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257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EKAR, ANANT" initials="NA" lastIdx="1" clrIdx="0">
    <p:extLst>
      <p:ext uri="{19B8F6BF-5375-455C-9EA6-DF929625EA0E}">
        <p15:presenceInfo xmlns:p15="http://schemas.microsoft.com/office/powerpoint/2012/main" userId="S::anantnatekar@northwesternmutual.com::92476ad0-fe24-4f76-bc96-33f4803bb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FF1"/>
    <a:srgbClr val="282828"/>
    <a:srgbClr val="4A4A4A"/>
    <a:srgbClr val="A6A6A6"/>
    <a:srgbClr val="FFFFFF"/>
    <a:srgbClr val="FEAF00"/>
    <a:srgbClr val="C0C0C0"/>
    <a:srgbClr val="CFE2F3"/>
    <a:srgbClr val="C3E1F5"/>
    <a:srgbClr val="4E4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7" autoAdjust="0"/>
    <p:restoredTop sz="68669" autoAdjust="0"/>
  </p:normalViewPr>
  <p:slideViewPr>
    <p:cSldViewPr snapToGrid="0">
      <p:cViewPr varScale="1">
        <p:scale>
          <a:sx n="61" d="100"/>
          <a:sy n="61" d="100"/>
        </p:scale>
        <p:origin x="2456" y="192"/>
      </p:cViewPr>
      <p:guideLst>
        <p:guide pos="3840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3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ho\dfs01\TEMP\GOP6642\AI%20Data\Presentationxls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Policy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Sheet1!$L$2</c:f>
              <c:strCache>
                <c:ptCount val="1"/>
                <c:pt idx="0">
                  <c:v>Face Value Surrendered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0-E27D-438A-8AD9-C7BABB811441}"/>
                </c:ext>
              </c:extLst>
            </c:dLbl>
            <c:dLbl>
              <c:idx val="1"/>
              <c:layout>
                <c:manualLayout>
                  <c:x val="9.2593183535514198E-3"/>
                  <c:y val="-2.7738184207752453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1527713697479"/>
                      <c:h val="0.1212520452281491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27D-438A-8AD9-C7BABB811441}"/>
                </c:ext>
              </c:extLst>
            </c:dLbl>
            <c:dLbl>
              <c:idx val="2"/>
              <c:layout>
                <c:manualLayout>
                  <c:x val="3.411636045494313E-2"/>
                  <c:y val="-7.8019791825924611E-2"/>
                </c:manualLayout>
              </c:layout>
              <c:spPr>
                <a:xfrm>
                  <a:off x="3942158" y="1973731"/>
                  <a:ext cx="1458652" cy="627526"/>
                </a:xfrm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23071"/>
                        <a:gd name="adj2" fmla="val 51159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586687080781568"/>
                      <c:h val="0.1191813199805139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27D-438A-8AD9-C7BABB81144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Sheet1!$K$3:$K$5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Sheet1!$L$3:$L$5</c:f>
              <c:numCache>
                <c:formatCode>"$"#,##0_);[Red]\("$"#,##0\)</c:formatCode>
                <c:ptCount val="3"/>
                <c:pt idx="0">
                  <c:v>21298560801</c:v>
                </c:pt>
                <c:pt idx="1">
                  <c:v>25035530551</c:v>
                </c:pt>
                <c:pt idx="2">
                  <c:v>28206590268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7D-438A-8AD9-C7BABB811441}"/>
            </c:ext>
          </c:extLst>
        </c:ser>
        <c:ser>
          <c:idx val="1"/>
          <c:order val="1"/>
          <c:tx>
            <c:strRef>
              <c:f>Sheet1!$M$2</c:f>
              <c:strCache>
                <c:ptCount val="1"/>
                <c:pt idx="0">
                  <c:v>Cash Value Surrendered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9.1134441485704533E-8"/>
                  <c:y val="-0.1302488649755332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028834937299499"/>
                      <c:h val="0.115294365663527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27D-438A-8AD9-C7BABB811441}"/>
                </c:ext>
              </c:extLst>
            </c:dLbl>
            <c:dLbl>
              <c:idx val="1"/>
              <c:layout>
                <c:manualLayout>
                  <c:x val="-1.1573982939632545E-2"/>
                  <c:y val="-0.1616050732103838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02909011373574"/>
                      <c:h val="0.12011839769965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27D-438A-8AD9-C7BABB811441}"/>
                </c:ext>
              </c:extLst>
            </c:dLbl>
            <c:dLbl>
              <c:idx val="2"/>
              <c:layout>
                <c:manualLayout>
                  <c:x val="1.6203703703703703E-2"/>
                  <c:y val="-0.151957009138122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8464566929135"/>
                      <c:h val="0.110470333627396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27D-438A-8AD9-C7BABB81144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Sheet1!$K$3:$K$5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Sheet1!$M$3:$M$5</c:f>
              <c:numCache>
                <c:formatCode>"$"#,##0_);[Red]\("$"#,##0\)</c:formatCode>
                <c:ptCount val="3"/>
                <c:pt idx="0">
                  <c:v>1866873118.9200001</c:v>
                </c:pt>
                <c:pt idx="1">
                  <c:v>2148110868.4099998</c:v>
                </c:pt>
                <c:pt idx="2">
                  <c:v>2330653019.6799998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7D-438A-8AD9-C7BABB811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74712696"/>
        <c:axId val="476684672"/>
        <c:axId val="0"/>
      </c:bar3DChart>
      <c:catAx>
        <c:axId val="474712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684672"/>
        <c:crosses val="autoZero"/>
        <c:auto val="1"/>
        <c:lblAlgn val="ctr"/>
        <c:lblOffset val="100"/>
        <c:noMultiLvlLbl val="0"/>
      </c:catAx>
      <c:valAx>
        <c:axId val="47668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712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Policies Surrendered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Sheet1!$I$2</c:f>
              <c:strCache>
                <c:ptCount val="1"/>
                <c:pt idx="0">
                  <c:v>Number of Policies Surrendered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2812732134898234E-2"/>
                  <c:y val="-0.1643414154479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B15-4AF3-A660-D8022B5811BE}"/>
                </c:ext>
              </c:extLst>
            </c:dLbl>
            <c:dLbl>
              <c:idx val="1"/>
              <c:layout>
                <c:manualLayout>
                  <c:x val="2.9116030307532226E-2"/>
                  <c:y val="-0.243690533516564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15-4AF3-A660-D8022B5811BE}"/>
                </c:ext>
              </c:extLst>
            </c:dLbl>
            <c:dLbl>
              <c:idx val="2"/>
              <c:layout>
                <c:manualLayout>
                  <c:x val="2.3626689942059128E-2"/>
                  <c:y val="-0.3751364983880928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15-4AF3-A660-D8022B5811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Sheet1!$H$3:$H$5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Sheet1!$I$3:$I$5</c:f>
              <c:numCache>
                <c:formatCode>#,##0</c:formatCode>
                <c:ptCount val="3"/>
                <c:pt idx="0">
                  <c:v>112423</c:v>
                </c:pt>
                <c:pt idx="1">
                  <c:v>115997</c:v>
                </c:pt>
                <c:pt idx="2">
                  <c:v>127116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15-4AF3-A660-D8022B581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66498352"/>
        <c:axId val="466500976"/>
        <c:axId val="0"/>
      </c:bar3DChart>
      <c:catAx>
        <c:axId val="46649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500976"/>
        <c:crosses val="autoZero"/>
        <c:auto val="1"/>
        <c:lblAlgn val="ctr"/>
        <c:lblOffset val="100"/>
        <c:noMultiLvlLbl val="0"/>
      </c:catAx>
      <c:valAx>
        <c:axId val="46650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498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0.12229</cdr:x>
      <cdr:y>0.08546</cdr:y>
    </cdr:from>
    <cdr:to>
      <cdr:x>0.96322</cdr:x>
      <cdr:y>0.26784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2E8BB3F-A7AD-43F4-B50F-CE531639AF4D}"/>
            </a:ext>
          </a:extLst>
        </cdr:cNvPr>
        <cdr:cNvSpPr txBox="1"/>
      </cdr:nvSpPr>
      <cdr:spPr>
        <a:xfrm xmlns:a="http://schemas.openxmlformats.org/drawingml/2006/main">
          <a:off x="658526" y="468715"/>
          <a:ext cx="4528240" cy="100027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rtlCol="0">
          <a:spAutoFit/>
        </a:bodyPr>
        <a:lstStyle xmlns:a="http://schemas.openxmlformats.org/drawingml/2006/main"/>
        <a:p xmlns:a="http://schemas.openxmlformats.org/drawingml/2006/main">
          <a:pPr algn="ctr">
            <a:lnSpc>
              <a:spcPct val="90000"/>
            </a:lnSpc>
            <a:spcAft>
              <a:spcPts val="600"/>
            </a:spcAft>
          </a:pPr>
          <a:r>
            <a:rPr lang="en-US" sz="2000" b="1" dirty="0">
              <a:solidFill>
                <a:srgbClr val="FF0000"/>
              </a:solidFill>
            </a:rPr>
            <a:t>Policies Sold</a:t>
          </a:r>
        </a:p>
        <a:p xmlns:a="http://schemas.openxmlformats.org/drawingml/2006/main">
          <a:pPr algn="l">
            <a:lnSpc>
              <a:spcPct val="90000"/>
            </a:lnSpc>
          </a:pPr>
          <a:r>
            <a:rPr lang="en-US" sz="2000" dirty="0">
              <a:solidFill>
                <a:srgbClr val="FF0000"/>
              </a:solidFill>
            </a:rPr>
            <a:t> 288,093	              302,713          301,917</a:t>
          </a:r>
        </a:p>
        <a:p xmlns:a="http://schemas.openxmlformats.org/drawingml/2006/main">
          <a:pPr algn="l">
            <a:lnSpc>
              <a:spcPct val="90000"/>
            </a:lnSpc>
          </a:pPr>
          <a:r>
            <a:rPr lang="en-US" sz="2000" dirty="0">
              <a:solidFill>
                <a:srgbClr val="FF0000"/>
              </a:solidFill>
            </a:rPr>
            <a:t>   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85CE6-4521-4683-951C-E9F334F29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87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C703C-F6ED-4EFD-A620-9C24C1F5B9B3}" type="datetimeFigureOut">
              <a:rPr lang="en-US" smtClean="0"/>
              <a:pPr/>
              <a:t>3/30/20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01549-DFB1-4F53-93DB-9EAED6BBFB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4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33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064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596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128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661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194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725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257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is so important because surrenders are skyrocketing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50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39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4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Outstanding debt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78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Outstanding debt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3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09600" y="349711"/>
            <a:ext cx="2788562" cy="330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invGray">
          <a:xfrm>
            <a:off x="609600" y="2866233"/>
            <a:ext cx="10972800" cy="0"/>
          </a:xfrm>
          <a:ln w="9525">
            <a:solidFill>
              <a:srgbClr val="FFFFFF">
                <a:alpha val="40000"/>
              </a:srgbClr>
            </a:solidFill>
          </a:ln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5200" b="0" cap="none" baseline="0" dirty="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4284698"/>
            <a:ext cx="8497020" cy="1076072"/>
          </a:xfrm>
        </p:spPr>
        <p:txBody>
          <a:bodyPr vert="horz" lIns="91440" tIns="0" rIns="91440" bIns="0" rtlCol="0" anchor="t" anchorCtr="0">
            <a:noAutofit/>
          </a:bodyPr>
          <a:lstStyle>
            <a:lvl1pPr marL="0" indent="0" algn="l" defTabSz="609570" rtl="0" eaLnBrk="1" latinLnBrk="0" hangingPunct="1">
              <a:spcBef>
                <a:spcPts val="600"/>
              </a:spcBef>
              <a:buFont typeface="Arial"/>
              <a:buNone/>
              <a:defRPr lang="en-US" sz="2800" b="0" i="0" kern="1200" smtClean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8" name="TextBox 7"/>
          <p:cNvSpPr txBox="1"/>
          <p:nvPr/>
        </p:nvSpPr>
        <p:spPr bwMode="ltGray">
          <a:xfrm>
            <a:off x="609600" y="6322018"/>
            <a:ext cx="11171168" cy="246221"/>
          </a:xfrm>
          <a:prstGeom prst="rect">
            <a:avLst/>
          </a:prstGeom>
          <a:noFill/>
        </p:spPr>
        <p:txBody>
          <a:bodyPr vert="horz" wrap="square" lIns="91440" tIns="0" rIns="0" bIns="0" rtlCol="0">
            <a:noAutofit/>
          </a:bodyPr>
          <a:lstStyle/>
          <a:p>
            <a:r>
              <a:rPr lang="en-US" sz="9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The Northwestern Mutual Life Insurance Company – Milwaukee, WI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026567"/>
            <a:ext cx="5235206" cy="715963"/>
          </a:xfrm>
        </p:spPr>
        <p:txBody>
          <a:bodyPr anchor="t" anchorCtr="0">
            <a:noAutofit/>
          </a:bodyPr>
          <a:lstStyle>
            <a:lvl1pPr>
              <a:spcBef>
                <a:spcPts val="200"/>
              </a:spcBef>
              <a:buNone/>
              <a:defRPr sz="220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28826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3D38B8-A2CA-409D-A3C8-D20C5D79B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7B6066-CC2D-4507-93B1-9BED00748F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1372393"/>
            <a:ext cx="10972800" cy="452596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4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arge Text -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0989"/>
            <a:ext cx="10972800" cy="3997367"/>
          </a:xfr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7200" cap="none" baseline="0" dirty="0"/>
            </a:lvl1pPr>
            <a:lvl2pPr>
              <a:spcBef>
                <a:spcPts val="1800"/>
              </a:spcBef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C0C0C0"/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B3776A-4193-4EC5-A21D-FBB12C53A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73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Title and Sm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BE7310-1863-4DBF-A9D1-BF3FFFD72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7FCCEB-59D5-4EB6-B078-A4F013AABC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599" y="1372393"/>
            <a:ext cx="10972800" cy="452596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4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invGray">
          <a:ln>
            <a:solidFill>
              <a:srgbClr val="FFFFFF">
                <a:alpha val="4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0685"/>
            <a:ext cx="10972800" cy="434937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C0C0C0"/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38A95-3CB5-4423-AFA8-E95C50E75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36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933676"/>
            <a:ext cx="10972800" cy="2542727"/>
          </a:xfrm>
        </p:spPr>
        <p:txBody>
          <a:bodyPr vert="horz" lIns="91440" tIns="0" rIns="91440" bIns="0" rtlCol="0" anchor="ctr" anchorCtr="0">
            <a:noAutofit/>
          </a:bodyPr>
          <a:lstStyle>
            <a:lvl1pPr marL="0" indent="0" algn="ctr" defTabSz="6095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3" b="0" i="0" kern="1200" cap="none" baseline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C0C0C0"/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9D83FF-8CE4-4334-8ABF-7271635F9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839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2393"/>
            <a:ext cx="5384800" cy="452596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2393"/>
            <a:ext cx="5384800" cy="452596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9D5E2E-FA69-4EEB-84E0-31E383BE7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275588"/>
            <a:ext cx="5330952" cy="57607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l">
              <a:buNone/>
              <a:defRPr lang="en-US" sz="2500" b="0" kern="1200" cap="none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marL="0" lvl="0" indent="0" algn="l" defTabSz="1219140" rtl="0" eaLnBrk="1" latinLnBrk="0" hangingPunct="1">
              <a:spcBef>
                <a:spcPts val="16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999093"/>
            <a:ext cx="5330952" cy="395128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400" dirty="0"/>
            </a:lvl1pPr>
            <a:lvl2pPr>
              <a:defRPr lang="en-US" sz="2200" dirty="0"/>
            </a:lvl2pPr>
            <a:lvl3pPr>
              <a:defRPr lang="en-US" sz="2000" dirty="0"/>
            </a:lvl3pPr>
            <a:lvl4pPr>
              <a:defRPr lang="en-US" sz="2000" dirty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1448" y="1275588"/>
            <a:ext cx="5330952" cy="57607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500" b="0" cap="none" baseline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6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448" y="1999093"/>
            <a:ext cx="5330952" cy="395128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400" dirty="0"/>
            </a:lvl1pPr>
            <a:lvl2pPr>
              <a:defRPr lang="en-US" sz="2200" dirty="0"/>
            </a:lvl2pPr>
            <a:lvl3pPr>
              <a:defRPr lang="en-US" sz="2000" dirty="0"/>
            </a:lvl3pPr>
            <a:lvl4pPr>
              <a:defRPr lang="en-US" sz="2000" dirty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9715D0E-FF9B-4C85-99F5-FF0DABA0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6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0"/>
            <a:ext cx="427511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13FCEA-4FA5-4CCF-99F8-2773F6C5DA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60" y="2191096"/>
            <a:ext cx="3203480" cy="747897"/>
          </a:xfrm>
          <a:ln w="9525">
            <a:solidFill>
              <a:srgbClr val="FFFFFF">
                <a:alpha val="40000"/>
              </a:srgbClr>
            </a:solidFill>
          </a:ln>
        </p:spPr>
        <p:txBody>
          <a:bodyPr vert="horz" lIns="91440" tIns="0" rIns="91440" bIns="0" rtlCol="0" anchor="t" anchorCtr="0">
            <a:sp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4EB15-7DAA-4BFA-AEF0-67F1A7EC2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invGray"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3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4716" y="712520"/>
            <a:ext cx="6697683" cy="547302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-1" y="0"/>
            <a:ext cx="427511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 bwMode="gray">
          <a:xfrm>
            <a:off x="531860" y="2191096"/>
            <a:ext cx="3203480" cy="747897"/>
          </a:xfrm>
          <a:ln w="9525">
            <a:solidFill>
              <a:srgbClr val="FFFFFF">
                <a:alpha val="40000"/>
              </a:srgbClr>
            </a:solidFill>
          </a:ln>
        </p:spPr>
        <p:txBody>
          <a:bodyPr vert="horz" lIns="91440" tIns="0" rIns="91440" bIns="0" rtlCol="0" anchor="t" anchorCtr="0">
            <a:sp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42D61E-9BEF-43A9-ACAD-D6D932A61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invGray"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1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D1567F-9570-46F5-98C5-C4E4FCF5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4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648EBAC-84D0-4ECD-BD16-8E59B4447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76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9344"/>
            <a:ext cx="5693664" cy="42336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225425" indent="-225425">
              <a:defRPr sz="2200"/>
            </a:lvl2pPr>
            <a:lvl3pPr marL="569913" indent="-225425">
              <a:defRPr sz="2000"/>
            </a:lvl3pPr>
            <a:lvl4pPr marL="914400" indent="-166688">
              <a:defRPr sz="2000"/>
            </a:lvl4pPr>
            <a:lvl5pPr marL="1258888" indent="-225425"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888480" y="0"/>
            <a:ext cx="530352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6A65A-65F0-43CD-99AD-06BC9D78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4390"/>
            <a:ext cx="5693664" cy="380010"/>
          </a:xfrm>
          <a:prstGeom prst="callout1">
            <a:avLst>
              <a:gd name="adj1" fmla="val 100711"/>
              <a:gd name="adj2" fmla="val -41"/>
              <a:gd name="adj3" fmla="val 101088"/>
              <a:gd name="adj4" fmla="val 100182"/>
            </a:avLst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0E2B4B-143D-4430-A210-08F915501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4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verlay o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bIns="3108960" anchor="b"/>
          <a:lstStyle>
            <a:lvl1pPr algn="ctr">
              <a:defRPr/>
            </a:lvl1pPr>
          </a:lstStyle>
          <a:p>
            <a:r>
              <a:rPr lang="en-US" dirty="0"/>
              <a:t>Click to add full screen photo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87542" y="1513022"/>
            <a:ext cx="6515625" cy="1723473"/>
          </a:xfrm>
          <a:solidFill>
            <a:srgbClr val="4E4E4E">
              <a:alpha val="50196"/>
            </a:srgbClr>
          </a:solidFill>
          <a:ln>
            <a:noFill/>
          </a:ln>
        </p:spPr>
        <p:txBody>
          <a:bodyPr lIns="274320" tIns="274320" rIns="274320" bIns="274320" anchor="ctr" anchorCtr="0">
            <a:noAutofit/>
          </a:bodyPr>
          <a:lstStyle>
            <a:lvl1pPr>
              <a:spcBef>
                <a:spcPts val="0"/>
              </a:spcBef>
              <a:defRPr lang="en-US" smtClean="0">
                <a:solidFill>
                  <a:schemeClr val="bg1"/>
                </a:solidFill>
                <a:latin typeface="CALIBRI" charset="0"/>
              </a:defRPr>
            </a:lvl1pPr>
            <a:lvl2pPr>
              <a:defRPr lang="en-US" sz="2400" smtClean="0"/>
            </a:lvl2pPr>
            <a:lvl3pPr>
              <a:defRPr lang="en-US" smtClean="0"/>
            </a:lvl3pPr>
            <a:lvl4pPr>
              <a:defRPr lang="en-US" sz="2400" smtClean="0"/>
            </a:lvl4pPr>
            <a:lvl5pPr>
              <a:defRPr lang="en-US" sz="2400"/>
            </a:lvl5pPr>
          </a:lstStyle>
          <a:p>
            <a:pPr lvl="0" defTabSz="1219064"/>
            <a:r>
              <a:rPr lang="en-US"/>
              <a:t>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3F3305-0557-4FA3-8633-C0BCBD3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09600" y="1318161"/>
            <a:ext cx="10972800" cy="503819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6BBE7-81D2-4BC2-81B5-96E754EAD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9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26305" y="2990207"/>
            <a:ext cx="433939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600" spc="-50" baseline="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328CE-0C16-E749-9C45-A3C525EC03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09600" y="349711"/>
            <a:ext cx="2788562" cy="3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25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534390"/>
            <a:ext cx="10972800" cy="380010"/>
          </a:xfrm>
          <a:prstGeom prst="callout1">
            <a:avLst>
              <a:gd name="adj1" fmla="val 100711"/>
              <a:gd name="adj2" fmla="val -41"/>
              <a:gd name="adj3" fmla="val 99147"/>
              <a:gd name="adj4" fmla="val 99939"/>
            </a:avLst>
          </a:prstGeom>
          <a:ln w="9525">
            <a:solidFill>
              <a:schemeClr val="tx1">
                <a:lumMod val="40000"/>
                <a:lumOff val="60000"/>
              </a:schemeClr>
            </a:solidFill>
          </a:ln>
        </p:spPr>
        <p:txBody>
          <a:bodyPr vert="horz" lIns="91440" tIns="0" rIns="9144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239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gray"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AE874-B89B-4117-AA5A-87FD6D3AB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6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12" r:id="rId3"/>
    <p:sldLayoutId id="2147483713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609570" rtl="0" eaLnBrk="1" latinLnBrk="0" hangingPunct="1">
        <a:lnSpc>
          <a:spcPct val="90000"/>
        </a:lnSpc>
        <a:spcBef>
          <a:spcPct val="0"/>
        </a:spcBef>
        <a:buNone/>
        <a:defRPr lang="en-US" sz="2700" b="0" i="0" kern="1200" cap="none" baseline="0" smtClean="0">
          <a:solidFill>
            <a:schemeClr val="tx2"/>
          </a:solidFill>
          <a:latin typeface="+mj-lt"/>
          <a:ea typeface="+mj-ea"/>
          <a:cs typeface="Arial"/>
        </a:defRPr>
      </a:lvl1pPr>
    </p:titleStyle>
    <p:bodyStyle>
      <a:lvl1pPr marL="0" indent="0" algn="l" defTabSz="121914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25425" indent="-225425" algn="l" defTabSz="121914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25425" algn="l" defTabSz="121914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Calibri" panose="020F050202020403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3138" indent="-177800" algn="l" defTabSz="1219140" rtl="0" eaLnBrk="1" latinLnBrk="0" hangingPunct="1">
        <a:lnSpc>
          <a:spcPct val="90000"/>
        </a:lnSpc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225425" algn="l" defTabSz="1219140" rtl="0" eaLnBrk="1" latinLnBrk="0" hangingPunct="1">
        <a:lnSpc>
          <a:spcPct val="90000"/>
        </a:lnSpc>
        <a:spcBef>
          <a:spcPct val="20000"/>
        </a:spcBef>
        <a:buClr>
          <a:schemeClr val="tx2"/>
        </a:buClr>
        <a:buFont typeface="Calibri" panose="020F050202020403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1FA0F-68E8-4CD4-B26B-293A14EBB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4165" y="3270142"/>
            <a:ext cx="5406326" cy="1311129"/>
          </a:xfrm>
        </p:spPr>
        <p:txBody>
          <a:bodyPr/>
          <a:lstStyle/>
          <a:p>
            <a:pPr algn="ctr"/>
            <a:r>
              <a:rPr lang="en-US" b="1" dirty="0"/>
              <a:t>TEAM DECEPTICONS</a:t>
            </a:r>
          </a:p>
          <a:p>
            <a:pPr algn="ctr"/>
            <a:endParaRPr lang="en-US" sz="800" dirty="0"/>
          </a:p>
          <a:p>
            <a:r>
              <a:rPr lang="en-US" dirty="0"/>
              <a:t>Andrea Arnold		Anant Natekar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724358-AC54-1044-9D7C-584DF6EF8253}"/>
              </a:ext>
            </a:extLst>
          </p:cNvPr>
          <p:cNvSpPr txBox="1"/>
          <p:nvPr/>
        </p:nvSpPr>
        <p:spPr>
          <a:xfrm>
            <a:off x="3434165" y="1382232"/>
            <a:ext cx="5406326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800" dirty="0"/>
              <a:t>EVF - 2020</a:t>
            </a:r>
          </a:p>
        </p:txBody>
      </p:sp>
    </p:spTree>
    <p:extLst>
      <p:ext uri="{BB962C8B-B14F-4D97-AF65-F5344CB8AC3E}">
        <p14:creationId xmlns:p14="http://schemas.microsoft.com/office/powerpoint/2010/main" val="137449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622B35-79A8-4E19-9DC2-33C90CD902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sz="3600" dirty="0"/>
              <a:t>NM Clients are surrendering </a:t>
            </a:r>
          </a:p>
          <a:p>
            <a:pPr algn="ctr"/>
            <a:r>
              <a:rPr lang="en-US" sz="4800" b="1" dirty="0">
                <a:solidFill>
                  <a:srgbClr val="FF0000"/>
                </a:solidFill>
              </a:rPr>
              <a:t>BILLIONS</a:t>
            </a:r>
            <a:endParaRPr lang="en-US" sz="4800" dirty="0"/>
          </a:p>
          <a:p>
            <a:pPr algn="ctr"/>
            <a:r>
              <a:rPr lang="en-US" sz="3600" dirty="0"/>
              <a:t>of dollars in permanent life insurance cash value every year.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B6049-4EA4-470C-BC74-B47D27410C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600FE-CFD6-4783-9F7C-7CE3F1735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C3D87C-2322-40F5-8451-8E3B9AD5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8F2EB-18CD-4B3D-8C5C-E3D525A7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0"/>
            <a:ext cx="5315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6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5400" dirty="0"/>
              <a:t>6345637007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4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5400" dirty="0"/>
              <a:t>63 45 63 70 07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BB769-CE9F-4BB1-B1E3-7209087F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952" y="3815363"/>
            <a:ext cx="2638095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7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33676"/>
            <a:ext cx="10972800" cy="2542727"/>
          </a:xfrm>
        </p:spPr>
        <p:txBody>
          <a:bodyPr/>
          <a:lstStyle/>
          <a:p>
            <a:r>
              <a:rPr lang="en-US" sz="5400" dirty="0"/>
              <a:t>634-563-7007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FD583-761B-4E0A-A459-5A63E515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88872">
            <a:off x="7671344" y="3454775"/>
            <a:ext cx="3457143" cy="2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5400" dirty="0"/>
              <a:t>$6,345,637,007.00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80EC833-166F-464F-A6C8-85A0FF4D1E5D}"/>
              </a:ext>
            </a:extLst>
          </p:cNvPr>
          <p:cNvSpPr txBox="1">
            <a:spLocks/>
          </p:cNvSpPr>
          <p:nvPr/>
        </p:nvSpPr>
        <p:spPr bwMode="black">
          <a:xfrm>
            <a:off x="609600" y="3813623"/>
            <a:ext cx="10972800" cy="2542727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marL="0" indent="0" algn="ctr" defTabSz="60957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5333" b="0" i="0" kern="1200" cap="none" baseline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  <a:lvl2pPr marL="609570" indent="0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40" indent="0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09" indent="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278" indent="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848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418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987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557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/>
              <a:t>Cash value that left the company 2015-2017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BC438-F64D-4CA1-B43C-87A8EFD51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83715">
            <a:off x="9067321" y="870910"/>
            <a:ext cx="2390476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8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4BB6E9C-FCA9-48CF-8BD6-C9117E806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2763612"/>
              </p:ext>
            </p:extLst>
          </p:nvPr>
        </p:nvGraphicFramePr>
        <p:xfrm>
          <a:off x="5796366" y="1009292"/>
          <a:ext cx="5869372" cy="5627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2657F94-E53B-429A-82D5-A9FE888B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841D3-3603-43C1-8716-98A205288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81EB16-C900-49A5-9AA0-8991398BE2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19501029"/>
              </p:ext>
            </p:extLst>
          </p:nvPr>
        </p:nvGraphicFramePr>
        <p:xfrm>
          <a:off x="609600" y="1009292"/>
          <a:ext cx="5384800" cy="5484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7F66A6-A98E-4467-BFCF-F59599DE82D4}"/>
              </a:ext>
            </a:extLst>
          </p:cNvPr>
          <p:cNvSpPr txBox="1"/>
          <p:nvPr/>
        </p:nvSpPr>
        <p:spPr>
          <a:xfrm>
            <a:off x="3127295" y="3927601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3.18%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E19FE-0F3F-4F1A-A74C-3589FC0EA204}"/>
              </a:ext>
            </a:extLst>
          </p:cNvPr>
          <p:cNvSpPr txBox="1"/>
          <p:nvPr/>
        </p:nvSpPr>
        <p:spPr>
          <a:xfrm>
            <a:off x="4440265" y="2421127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9.58%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1D23D-207A-41E4-9F6A-C272B46652E8}"/>
              </a:ext>
            </a:extLst>
          </p:cNvPr>
          <p:cNvSpPr txBox="1"/>
          <p:nvPr/>
        </p:nvSpPr>
        <p:spPr>
          <a:xfrm>
            <a:off x="10895875" y="2053724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8.50%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C5D1C-08FA-457F-8614-4D34B939B7C3}"/>
              </a:ext>
            </a:extLst>
          </p:cNvPr>
          <p:cNvSpPr txBox="1"/>
          <p:nvPr/>
        </p:nvSpPr>
        <p:spPr>
          <a:xfrm>
            <a:off x="8926163" y="2339956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15.06%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56987-473C-4261-9B56-9433579DC44B}"/>
              </a:ext>
            </a:extLst>
          </p:cNvPr>
          <p:cNvSpPr txBox="1"/>
          <p:nvPr/>
        </p:nvSpPr>
        <p:spPr>
          <a:xfrm>
            <a:off x="250166" y="6493789"/>
            <a:ext cx="55462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680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FF86-607D-4A0A-BED1-D2237523E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778718-E0E5-472F-A5B5-15F22540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650" y="2913944"/>
            <a:ext cx="942857" cy="92381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E117F9B8-1CB7-458E-8FF9-AE09019D3BD5}"/>
              </a:ext>
            </a:extLst>
          </p:cNvPr>
          <p:cNvGrpSpPr/>
          <p:nvPr/>
        </p:nvGrpSpPr>
        <p:grpSpPr>
          <a:xfrm>
            <a:off x="2276547" y="1238799"/>
            <a:ext cx="2377943" cy="1338886"/>
            <a:chOff x="2725113" y="1471713"/>
            <a:chExt cx="2377943" cy="13388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8EB7426-9FA9-4668-AE3D-B753A5F120B9}"/>
                </a:ext>
              </a:extLst>
            </p:cNvPr>
            <p:cNvGrpSpPr/>
            <p:nvPr/>
          </p:nvGrpSpPr>
          <p:grpSpPr>
            <a:xfrm>
              <a:off x="2725113" y="1471713"/>
              <a:ext cx="914400" cy="1243780"/>
              <a:chOff x="1397479" y="919696"/>
              <a:chExt cx="914400" cy="124378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8194FEB-FCB1-4F27-AC7B-449A29BFE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1138" y="919696"/>
                <a:ext cx="790476" cy="819048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7FAAC6-B0C8-4230-8E26-820DCFD78A8A}"/>
                  </a:ext>
                </a:extLst>
              </p:cNvPr>
              <p:cNvSpPr txBox="1"/>
              <p:nvPr/>
            </p:nvSpPr>
            <p:spPr>
              <a:xfrm>
                <a:off x="1397479" y="1738744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Life</a:t>
                </a:r>
              </a:p>
            </p:txBody>
          </p:sp>
        </p:grp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DDB4153A-4B35-4C42-8B7B-7F416D6999D2}"/>
                </a:ext>
              </a:extLst>
            </p:cNvPr>
            <p:cNvSpPr/>
            <p:nvPr/>
          </p:nvSpPr>
          <p:spPr>
            <a:xfrm rot="1733834">
              <a:off x="3843722" y="2599990"/>
              <a:ext cx="1259334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CFB52B0-B77C-4B00-BFBD-0D506B5ECA05}"/>
              </a:ext>
            </a:extLst>
          </p:cNvPr>
          <p:cNvGrpSpPr/>
          <p:nvPr/>
        </p:nvGrpSpPr>
        <p:grpSpPr>
          <a:xfrm>
            <a:off x="5088749" y="306584"/>
            <a:ext cx="1279224" cy="2140531"/>
            <a:chOff x="5088749" y="763771"/>
            <a:chExt cx="1279224" cy="214053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BC41A77-9DE1-4B19-874F-D87D505C7EA4}"/>
                </a:ext>
              </a:extLst>
            </p:cNvPr>
            <p:cNvGrpSpPr/>
            <p:nvPr/>
          </p:nvGrpSpPr>
          <p:grpSpPr>
            <a:xfrm>
              <a:off x="5088749" y="763771"/>
              <a:ext cx="1279224" cy="1295701"/>
              <a:chOff x="6351625" y="1276839"/>
              <a:chExt cx="1279224" cy="129570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8186810-E3AB-417C-BE04-30CF0CD1EA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76952" y="1276839"/>
                <a:ext cx="828571" cy="92381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7B73F1-8E0A-495F-A2C0-10A5E7A18FAD}"/>
                  </a:ext>
                </a:extLst>
              </p:cNvPr>
              <p:cNvSpPr txBox="1"/>
              <p:nvPr/>
            </p:nvSpPr>
            <p:spPr>
              <a:xfrm>
                <a:off x="6351625" y="2147808"/>
                <a:ext cx="1279224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IRAs</a:t>
                </a:r>
              </a:p>
            </p:txBody>
          </p:sp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34A9ECCF-6480-4F2D-B52E-0872905CFDEB}"/>
                </a:ext>
              </a:extLst>
            </p:cNvPr>
            <p:cNvSpPr/>
            <p:nvPr/>
          </p:nvSpPr>
          <p:spPr>
            <a:xfrm rot="5400000">
              <a:off x="5406897" y="2429762"/>
              <a:ext cx="705792" cy="243288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8916DF-2275-4C6B-AB2D-174C02BC104F}"/>
              </a:ext>
            </a:extLst>
          </p:cNvPr>
          <p:cNvGrpSpPr/>
          <p:nvPr/>
        </p:nvGrpSpPr>
        <p:grpSpPr>
          <a:xfrm>
            <a:off x="8194461" y="2812375"/>
            <a:ext cx="3007562" cy="1316765"/>
            <a:chOff x="7728639" y="2812375"/>
            <a:chExt cx="3007562" cy="131676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1A4D35C-AC90-46A3-8DB8-1B7A894BF4C3}"/>
                </a:ext>
              </a:extLst>
            </p:cNvPr>
            <p:cNvGrpSpPr/>
            <p:nvPr/>
          </p:nvGrpSpPr>
          <p:grpSpPr>
            <a:xfrm>
              <a:off x="9821801" y="2812375"/>
              <a:ext cx="914400" cy="1316765"/>
              <a:chOff x="7703127" y="3391737"/>
              <a:chExt cx="914400" cy="1316765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D08264-B957-430F-8D41-A8F18B12D2C6}"/>
                  </a:ext>
                </a:extLst>
              </p:cNvPr>
              <p:cNvSpPr txBox="1"/>
              <p:nvPr/>
            </p:nvSpPr>
            <p:spPr>
              <a:xfrm>
                <a:off x="7703127" y="4283770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DI</a:t>
                </a: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BB72FC80-9B8D-4573-AF33-92FB360A1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0803" y="3391737"/>
                <a:ext cx="819049" cy="892033"/>
              </a:xfrm>
              <a:prstGeom prst="rect">
                <a:avLst/>
              </a:prstGeom>
            </p:spPr>
          </p:pic>
        </p:grp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254F3799-3B65-4716-A909-EFFCAD38FC89}"/>
                </a:ext>
              </a:extLst>
            </p:cNvPr>
            <p:cNvSpPr/>
            <p:nvPr/>
          </p:nvSpPr>
          <p:spPr>
            <a:xfrm rot="10800000">
              <a:off x="7728639" y="3238303"/>
              <a:ext cx="1406896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4F3FCB-0E7C-441B-93C8-221CC3037D4C}"/>
              </a:ext>
            </a:extLst>
          </p:cNvPr>
          <p:cNvGrpSpPr/>
          <p:nvPr/>
        </p:nvGrpSpPr>
        <p:grpSpPr>
          <a:xfrm>
            <a:off x="7109773" y="1204299"/>
            <a:ext cx="2346610" cy="1314710"/>
            <a:chOff x="6712964" y="1471713"/>
            <a:chExt cx="2346610" cy="13147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C931986-5B64-49AA-8B40-F10DDBFF55CA}"/>
                </a:ext>
              </a:extLst>
            </p:cNvPr>
            <p:cNvGrpSpPr/>
            <p:nvPr/>
          </p:nvGrpSpPr>
          <p:grpSpPr>
            <a:xfrm>
              <a:off x="8145174" y="1471713"/>
              <a:ext cx="914400" cy="1252155"/>
              <a:chOff x="8178473" y="1478546"/>
              <a:chExt cx="914400" cy="1252155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9BEE793-4A34-47A9-A5A9-3239855E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5197" y="1478546"/>
                <a:ext cx="780952" cy="92381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2C929A-3CF3-41EB-B2AF-5731B1B59915}"/>
                  </a:ext>
                </a:extLst>
              </p:cNvPr>
              <p:cNvSpPr txBox="1"/>
              <p:nvPr/>
            </p:nvSpPr>
            <p:spPr>
              <a:xfrm>
                <a:off x="8178473" y="2305969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LTC</a:t>
                </a:r>
              </a:p>
            </p:txBody>
          </p:sp>
        </p:grp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97F07C07-91B6-498D-AE8D-1396954D8573}"/>
                </a:ext>
              </a:extLst>
            </p:cNvPr>
            <p:cNvSpPr/>
            <p:nvPr/>
          </p:nvSpPr>
          <p:spPr>
            <a:xfrm rot="8938898">
              <a:off x="6712964" y="2575814"/>
              <a:ext cx="1277731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0DD2391-57BE-43C3-A19F-6E5528424D68}"/>
              </a:ext>
            </a:extLst>
          </p:cNvPr>
          <p:cNvGrpSpPr/>
          <p:nvPr/>
        </p:nvGrpSpPr>
        <p:grpSpPr>
          <a:xfrm>
            <a:off x="7088768" y="4290301"/>
            <a:ext cx="2489645" cy="1578616"/>
            <a:chOff x="6752341" y="4143654"/>
            <a:chExt cx="2489645" cy="157861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31C5096-8F6E-4F00-88CF-F60568BF8687}"/>
                </a:ext>
              </a:extLst>
            </p:cNvPr>
            <p:cNvGrpSpPr/>
            <p:nvPr/>
          </p:nvGrpSpPr>
          <p:grpSpPr>
            <a:xfrm>
              <a:off x="7962762" y="4345115"/>
              <a:ext cx="1279224" cy="1377155"/>
              <a:chOff x="9571549" y="1951110"/>
              <a:chExt cx="1279224" cy="137715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4753D60-AB99-4A51-98A9-DE3F02202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6129" y="1951110"/>
                <a:ext cx="1050065" cy="98494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15D666-AB6A-4344-A87F-3011917FE238}"/>
                  </a:ext>
                </a:extLst>
              </p:cNvPr>
              <p:cNvSpPr txBox="1"/>
              <p:nvPr/>
            </p:nvSpPr>
            <p:spPr>
              <a:xfrm>
                <a:off x="9571549" y="2903533"/>
                <a:ext cx="1279224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Advisory</a:t>
                </a:r>
              </a:p>
            </p:txBody>
          </p:sp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40E7A650-8325-465F-867B-9DCA2A05E427}"/>
                </a:ext>
              </a:extLst>
            </p:cNvPr>
            <p:cNvSpPr/>
            <p:nvPr/>
          </p:nvSpPr>
          <p:spPr>
            <a:xfrm rot="12755976">
              <a:off x="6752341" y="4143654"/>
              <a:ext cx="1262607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FC80AF-3FD2-4340-A4DC-55AB198473AA}"/>
              </a:ext>
            </a:extLst>
          </p:cNvPr>
          <p:cNvGrpSpPr/>
          <p:nvPr/>
        </p:nvGrpSpPr>
        <p:grpSpPr>
          <a:xfrm>
            <a:off x="5060510" y="4395605"/>
            <a:ext cx="1406896" cy="2045822"/>
            <a:chOff x="5037630" y="4053054"/>
            <a:chExt cx="1406896" cy="204582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BC65591-D239-406A-8B25-148AB9829520}"/>
                </a:ext>
              </a:extLst>
            </p:cNvPr>
            <p:cNvGrpSpPr/>
            <p:nvPr/>
          </p:nvGrpSpPr>
          <p:grpSpPr>
            <a:xfrm>
              <a:off x="5037630" y="5078130"/>
              <a:ext cx="1406896" cy="1020746"/>
              <a:chOff x="7046991" y="5104009"/>
              <a:chExt cx="1407626" cy="1151186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EB03D2C-F61E-452A-B7F1-11935910F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96235" y="5104009"/>
                <a:ext cx="914401" cy="845821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CA7351-B286-4739-B661-AC9AD40A3119}"/>
                  </a:ext>
                </a:extLst>
              </p:cNvPr>
              <p:cNvSpPr txBox="1"/>
              <p:nvPr/>
            </p:nvSpPr>
            <p:spPr>
              <a:xfrm>
                <a:off x="7046991" y="5830463"/>
                <a:ext cx="1407626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Annuities</a:t>
                </a:r>
              </a:p>
            </p:txBody>
          </p:sp>
        </p:grp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73F08AD3-3A2A-45DB-AF00-A1B87CE58D54}"/>
                </a:ext>
              </a:extLst>
            </p:cNvPr>
            <p:cNvSpPr/>
            <p:nvPr/>
          </p:nvSpPr>
          <p:spPr>
            <a:xfrm rot="16200000">
              <a:off x="5302860" y="4376589"/>
              <a:ext cx="857680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F8A380D-AD20-4FB7-96B0-AE7894AF13D9}"/>
              </a:ext>
            </a:extLst>
          </p:cNvPr>
          <p:cNvGrpSpPr/>
          <p:nvPr/>
        </p:nvGrpSpPr>
        <p:grpSpPr>
          <a:xfrm>
            <a:off x="2057621" y="4333310"/>
            <a:ext cx="2569077" cy="1548794"/>
            <a:chOff x="2307785" y="4186668"/>
            <a:chExt cx="2569077" cy="154879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2E17632-4F2C-409F-B381-74F98103FB5E}"/>
                </a:ext>
              </a:extLst>
            </p:cNvPr>
            <p:cNvGrpSpPr/>
            <p:nvPr/>
          </p:nvGrpSpPr>
          <p:grpSpPr>
            <a:xfrm>
              <a:off x="2307785" y="4694525"/>
              <a:ext cx="1749056" cy="1040937"/>
              <a:chOff x="3946804" y="1372078"/>
              <a:chExt cx="1749056" cy="104093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FCD569D-47EA-4272-A3E8-F573E96D5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07528" y="1372078"/>
                <a:ext cx="1200000" cy="733333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96E71B-C064-4029-9CA8-57C90752A130}"/>
                  </a:ext>
                </a:extLst>
              </p:cNvPr>
              <p:cNvSpPr txBox="1"/>
              <p:nvPr/>
            </p:nvSpPr>
            <p:spPr>
              <a:xfrm>
                <a:off x="3946804" y="1988283"/>
                <a:ext cx="1749056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Investments</a:t>
                </a:r>
              </a:p>
            </p:txBody>
          </p:sp>
        </p:grp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3A1144C6-8A1F-4477-9B46-1EA9BA9BE2FD}"/>
                </a:ext>
              </a:extLst>
            </p:cNvPr>
            <p:cNvSpPr/>
            <p:nvPr/>
          </p:nvSpPr>
          <p:spPr>
            <a:xfrm rot="19361175">
              <a:off x="3569564" y="4186668"/>
              <a:ext cx="1307298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CE071A-0BA2-4160-94CD-67BA81156AE6}"/>
              </a:ext>
            </a:extLst>
          </p:cNvPr>
          <p:cNvGrpSpPr/>
          <p:nvPr/>
        </p:nvGrpSpPr>
        <p:grpSpPr>
          <a:xfrm>
            <a:off x="692982" y="2994940"/>
            <a:ext cx="2671371" cy="1091381"/>
            <a:chOff x="1357214" y="2994940"/>
            <a:chExt cx="2671371" cy="109138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097C1EC-9450-40B4-BA58-F851587CC72D}"/>
                </a:ext>
              </a:extLst>
            </p:cNvPr>
            <p:cNvGrpSpPr/>
            <p:nvPr/>
          </p:nvGrpSpPr>
          <p:grpSpPr>
            <a:xfrm>
              <a:off x="1357214" y="2994940"/>
              <a:ext cx="914400" cy="1091381"/>
              <a:chOff x="1286803" y="2708017"/>
              <a:chExt cx="914400" cy="109138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B1B1507-199B-4CE3-896D-4AD0237EE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34479" y="2708017"/>
                <a:ext cx="819048" cy="819048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FB6105-C1F6-4D99-A833-415C7108B0E9}"/>
                  </a:ext>
                </a:extLst>
              </p:cNvPr>
              <p:cNvSpPr txBox="1"/>
              <p:nvPr/>
            </p:nvSpPr>
            <p:spPr>
              <a:xfrm>
                <a:off x="1286803" y="3374666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529s</a:t>
                </a:r>
              </a:p>
            </p:txBody>
          </p:sp>
        </p:grp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3D972E4C-EC63-4CF3-9F8C-6FD08B9BFDE8}"/>
                </a:ext>
              </a:extLst>
            </p:cNvPr>
            <p:cNvSpPr/>
            <p:nvPr/>
          </p:nvSpPr>
          <p:spPr>
            <a:xfrm>
              <a:off x="2621689" y="3278955"/>
              <a:ext cx="1406896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894557D7-CBB4-4E2B-94EE-E8EB820DCE17}"/>
              </a:ext>
            </a:extLst>
          </p:cNvPr>
          <p:cNvSpPr/>
          <p:nvPr/>
        </p:nvSpPr>
        <p:spPr>
          <a:xfrm rot="1594846">
            <a:off x="1641762" y="945573"/>
            <a:ext cx="3519882" cy="214052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1213BA-C892-A642-ACFD-8447DE2A3F44}"/>
              </a:ext>
            </a:extLst>
          </p:cNvPr>
          <p:cNvSpPr txBox="1"/>
          <p:nvPr/>
        </p:nvSpPr>
        <p:spPr>
          <a:xfrm>
            <a:off x="692982" y="212653"/>
            <a:ext cx="345371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With a focus only on Life</a:t>
            </a:r>
          </a:p>
        </p:txBody>
      </p:sp>
    </p:spTree>
    <p:extLst>
      <p:ext uri="{BB962C8B-B14F-4D97-AF65-F5344CB8AC3E}">
        <p14:creationId xmlns:p14="http://schemas.microsoft.com/office/powerpoint/2010/main" val="227254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1904167"/>
            <a:ext cx="3168316" cy="373949"/>
          </a:xfrm>
        </p:spPr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84716" y="1142012"/>
            <a:ext cx="6697683" cy="3282070"/>
          </a:xfrm>
        </p:spPr>
        <p:txBody>
          <a:bodyPr/>
          <a:lstStyle/>
          <a:p>
            <a:pPr algn="just"/>
            <a:r>
              <a:rPr lang="en-US" dirty="0"/>
              <a:t>Build a solution to predict which policies will leave the company so we can get ahead of it and mitigate further loss. </a:t>
            </a:r>
          </a:p>
          <a:p>
            <a:pPr marL="0" lvl="1" indent="0" algn="just">
              <a:spcBef>
                <a:spcPts val="2400"/>
              </a:spcBef>
              <a:buNone/>
            </a:pPr>
            <a:r>
              <a:rPr lang="en-US" sz="2400" dirty="0"/>
              <a:t>Had the company saved just 10% of this business, we could have retained </a:t>
            </a:r>
          </a:p>
          <a:p>
            <a:pPr marL="0" lvl="1" indent="0" algn="ctr">
              <a:spcBef>
                <a:spcPts val="2400"/>
              </a:spcBef>
              <a:buNone/>
            </a:pPr>
            <a:r>
              <a:rPr lang="en-US" sz="2800" b="1" dirty="0">
                <a:solidFill>
                  <a:srgbClr val="0E497B"/>
                </a:solidFill>
              </a:rPr>
              <a:t>$600 Million in cash value</a:t>
            </a:r>
            <a:r>
              <a:rPr lang="en-US" sz="2800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B20808-63B7-46F8-B074-42C75931968E}"/>
              </a:ext>
            </a:extLst>
          </p:cNvPr>
          <p:cNvCxnSpPr/>
          <p:nvPr/>
        </p:nvCxnSpPr>
        <p:spPr>
          <a:xfrm>
            <a:off x="5028188" y="2278116"/>
            <a:ext cx="6410740" cy="0"/>
          </a:xfrm>
          <a:prstGeom prst="line">
            <a:avLst/>
          </a:prstGeom>
          <a:ln w="15875">
            <a:solidFill>
              <a:srgbClr val="0E49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87505B5-B960-422C-9C98-CCDA2F7F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366" y="4424082"/>
            <a:ext cx="2952381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3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FF86-607D-4A0A-BED1-D2237523E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F4E71-F0E8-8742-AD56-D1745DA22662}"/>
              </a:ext>
            </a:extLst>
          </p:cNvPr>
          <p:cNvSpPr txBox="1"/>
          <p:nvPr/>
        </p:nvSpPr>
        <p:spPr>
          <a:xfrm>
            <a:off x="1647185" y="1371600"/>
            <a:ext cx="8897629" cy="374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600" dirty="0"/>
              <a:t>We used </a:t>
            </a:r>
            <a:r>
              <a:rPr lang="en-US" sz="6600" dirty="0">
                <a:solidFill>
                  <a:srgbClr val="FFFF00"/>
                </a:solidFill>
              </a:rPr>
              <a:t>AI</a:t>
            </a:r>
            <a:r>
              <a:rPr lang="en-US" sz="6600" dirty="0"/>
              <a:t> to </a:t>
            </a:r>
          </a:p>
          <a:p>
            <a:pPr algn="ctr">
              <a:lnSpc>
                <a:spcPct val="90000"/>
              </a:lnSpc>
            </a:pPr>
            <a:r>
              <a:rPr lang="en-US" sz="6600" dirty="0"/>
              <a:t>predict </a:t>
            </a:r>
          </a:p>
          <a:p>
            <a:pPr algn="ctr">
              <a:lnSpc>
                <a:spcPct val="90000"/>
              </a:lnSpc>
            </a:pPr>
            <a:r>
              <a:rPr lang="en-US" sz="6600" dirty="0"/>
              <a:t>and get in front of future </a:t>
            </a:r>
          </a:p>
          <a:p>
            <a:pPr algn="ctr">
              <a:lnSpc>
                <a:spcPct val="90000"/>
              </a:lnSpc>
            </a:pPr>
            <a:r>
              <a:rPr lang="en-US" sz="6600" dirty="0"/>
              <a:t>policy surrenders</a:t>
            </a:r>
          </a:p>
        </p:txBody>
      </p:sp>
    </p:spTree>
    <p:extLst>
      <p:ext uri="{BB962C8B-B14F-4D97-AF65-F5344CB8AC3E}">
        <p14:creationId xmlns:p14="http://schemas.microsoft.com/office/powerpoint/2010/main" val="356301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0F20-2684-4F4C-BC56-598868B4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E586-1846-0043-94AA-6D53F884A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641" y="1095474"/>
            <a:ext cx="5298673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Stack used</a:t>
            </a:r>
          </a:p>
          <a:p>
            <a:pPr marL="971550" lvl="2" indent="-342900"/>
            <a:r>
              <a:rPr lang="en-US" dirty="0"/>
              <a:t>Microsoft Azure Machine learning studio</a:t>
            </a:r>
          </a:p>
          <a:p>
            <a:pPr marL="971550" lvl="2" indent="-342900"/>
            <a:r>
              <a:rPr lang="en-US" dirty="0"/>
              <a:t>Two class boosted decision tree Algorithm</a:t>
            </a:r>
          </a:p>
          <a:p>
            <a:pPr marL="971550" lvl="2" indent="-342900"/>
            <a:r>
              <a:rPr lang="en-US" dirty="0"/>
              <a:t>Power BI &amp; 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Used </a:t>
            </a:r>
          </a:p>
          <a:p>
            <a:pPr marL="971550" lvl="2" indent="-342900"/>
            <a:r>
              <a:rPr lang="en-US" dirty="0"/>
              <a:t>Majority Mock Data </a:t>
            </a:r>
          </a:p>
          <a:p>
            <a:pPr marL="971550" lvl="2" indent="-342900"/>
            <a:r>
              <a:rPr lang="en-US" sz="2000" dirty="0"/>
              <a:t>Worked with EIRC to get other policy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Machine Learning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9A7E6-F325-FE40-AA1E-24D142E7E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961BD-529C-A343-8680-6ED168135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08" y="5161470"/>
            <a:ext cx="8053137" cy="1608131"/>
          </a:xfrm>
          <a:prstGeom prst="rect">
            <a:avLst/>
          </a:prstGeom>
        </p:spPr>
      </p:pic>
      <p:pic>
        <p:nvPicPr>
          <p:cNvPr id="7" name="Content Placeholder 13">
            <a:extLst>
              <a:ext uri="{FF2B5EF4-FFF2-40B4-BE49-F238E27FC236}">
                <a16:creationId xmlns:a16="http://schemas.microsoft.com/office/drawing/2014/main" id="{134FC469-E359-F145-BB08-C31A7E558A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314" y="1115720"/>
            <a:ext cx="5769278" cy="46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3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B9B1-12DC-4FFA-B41B-73BDA048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F161-ED73-444F-A266-B2CD3F79A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8939"/>
            <a:ext cx="10972799" cy="576072"/>
          </a:xfrm>
        </p:spPr>
        <p:txBody>
          <a:bodyPr/>
          <a:lstStyle/>
          <a:p>
            <a:pPr algn="ctr"/>
            <a:r>
              <a:rPr lang="en-US" dirty="0"/>
              <a:t>Reduce Noise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4630-1500-4A50-91B7-A42467EAD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477" y="2336281"/>
            <a:ext cx="3685309" cy="4520882"/>
          </a:xfrm>
        </p:spPr>
        <p:txBody>
          <a:bodyPr/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Policy Information</a:t>
            </a:r>
          </a:p>
          <a:p>
            <a:pPr marL="971550" lvl="2" indent="-342900"/>
            <a:r>
              <a:rPr lang="en-US" dirty="0"/>
              <a:t>Rating</a:t>
            </a:r>
          </a:p>
          <a:p>
            <a:pPr marL="971550" lvl="2" indent="-342900"/>
            <a:r>
              <a:rPr lang="en-US" dirty="0"/>
              <a:t>Riders</a:t>
            </a:r>
          </a:p>
          <a:p>
            <a:pPr marL="971550" lvl="2" indent="-342900"/>
            <a:r>
              <a:rPr lang="en-US" dirty="0"/>
              <a:t>Length of time in underwriting</a:t>
            </a:r>
          </a:p>
          <a:p>
            <a:pPr marL="971550" lvl="2" indent="-342900"/>
            <a:endParaRPr lang="en-US" dirty="0"/>
          </a:p>
          <a:p>
            <a:pPr marL="971550" lvl="2" indent="-34290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741BF-B128-4789-AC03-57D6BA0E4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A2D30B-DD48-4281-90C2-06B6342AAB3A}"/>
              </a:ext>
            </a:extLst>
          </p:cNvPr>
          <p:cNvSpPr txBox="1">
            <a:spLocks/>
          </p:cNvSpPr>
          <p:nvPr/>
        </p:nvSpPr>
        <p:spPr>
          <a:xfrm>
            <a:off x="7761269" y="2761013"/>
            <a:ext cx="3956955" cy="3951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need for death benefit</a:t>
            </a:r>
          </a:p>
          <a:p>
            <a:pPr marL="971550" lvl="2" indent="-342900"/>
            <a:r>
              <a:rPr lang="en-US" dirty="0"/>
              <a:t>Age of policyowner</a:t>
            </a:r>
          </a:p>
          <a:p>
            <a:pPr marL="971550" lvl="2" indent="-342900"/>
            <a:r>
              <a:rPr lang="en-US" dirty="0"/>
              <a:t>Age of beneficiary</a:t>
            </a:r>
          </a:p>
          <a:p>
            <a:pPr marL="971550" lvl="2" indent="-342900"/>
            <a:r>
              <a:rPr lang="en-US" dirty="0"/>
              <a:t>Policy date</a:t>
            </a:r>
          </a:p>
          <a:p>
            <a:pPr marL="971550" lvl="2" indent="-342900"/>
            <a:r>
              <a:rPr lang="en-US" dirty="0"/>
              <a:t>Other products owned by client</a:t>
            </a:r>
          </a:p>
          <a:p>
            <a:pPr marL="1316038" lvl="3" indent="-342900"/>
            <a:r>
              <a:rPr lang="en-US" dirty="0"/>
              <a:t>IRA</a:t>
            </a:r>
          </a:p>
          <a:p>
            <a:pPr marL="1316038" lvl="3" indent="-342900"/>
            <a:r>
              <a:rPr lang="en-US" dirty="0"/>
              <a:t>529</a:t>
            </a:r>
          </a:p>
          <a:p>
            <a:pPr marL="971550" lvl="2" indent="-342900"/>
            <a:endParaRPr lang="en-US" dirty="0"/>
          </a:p>
          <a:p>
            <a:pPr marL="971550" lvl="2" indent="-342900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26E869-F8D1-4D1A-9F04-DC7CF3D17C32}"/>
              </a:ext>
            </a:extLst>
          </p:cNvPr>
          <p:cNvSpPr txBox="1"/>
          <p:nvPr/>
        </p:nvSpPr>
        <p:spPr>
          <a:xfrm>
            <a:off x="609600" y="2017643"/>
            <a:ext cx="109727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Common Reasons for Surrender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5B6370D-CDA0-4D53-8153-22366CA29E5A}"/>
              </a:ext>
            </a:extLst>
          </p:cNvPr>
          <p:cNvSpPr txBox="1">
            <a:spLocks/>
          </p:cNvSpPr>
          <p:nvPr/>
        </p:nvSpPr>
        <p:spPr>
          <a:xfrm>
            <a:off x="4306786" y="2336281"/>
            <a:ext cx="3590307" cy="45208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Financial rep info</a:t>
            </a:r>
          </a:p>
          <a:p>
            <a:pPr marL="971550" lvl="2" indent="-342900"/>
            <a:r>
              <a:rPr lang="en-US" dirty="0"/>
              <a:t>FR years of service</a:t>
            </a:r>
          </a:p>
          <a:p>
            <a:pPr marL="1316038" lvl="3" indent="-342900"/>
            <a:r>
              <a:rPr lang="en-US" dirty="0"/>
              <a:t>&lt;2 years of service</a:t>
            </a:r>
          </a:p>
          <a:p>
            <a:pPr marL="1316038" lvl="3" indent="-342900"/>
            <a:r>
              <a:rPr lang="en-US" dirty="0"/>
              <a:t>&gt;30 years of service</a:t>
            </a:r>
          </a:p>
          <a:p>
            <a:pPr marL="1316038" lvl="3" indent="-342900"/>
            <a:endParaRPr lang="en-US" dirty="0"/>
          </a:p>
          <a:p>
            <a:pPr marL="971550" lvl="2" indent="-342900"/>
            <a:endParaRPr lang="en-US" dirty="0"/>
          </a:p>
          <a:p>
            <a:pPr marL="971550" lvl="2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9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B9B1-12DC-4FFA-B41B-73BDA048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F161-ED73-444F-A266-B2CD3F79A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6370"/>
            <a:ext cx="10972799" cy="576072"/>
          </a:xfrm>
        </p:spPr>
        <p:txBody>
          <a:bodyPr/>
          <a:lstStyle/>
          <a:p>
            <a:pPr algn="ctr"/>
            <a:r>
              <a:rPr lang="en-US" dirty="0"/>
              <a:t>More Complex Algorithm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34B14-77AE-4B26-96A8-205CDA754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04857" y="1713949"/>
            <a:ext cx="4149434" cy="3951288"/>
          </a:xfrm>
        </p:spPr>
        <p:txBody>
          <a:bodyPr/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 on policyholder, cont.</a:t>
            </a:r>
          </a:p>
          <a:p>
            <a:pPr marL="971550" lvl="2" indent="-342900"/>
            <a:r>
              <a:rPr lang="en-US" dirty="0"/>
              <a:t>Call center contacts</a:t>
            </a:r>
          </a:p>
          <a:p>
            <a:pPr marL="971550" lvl="2" indent="-342900"/>
            <a:r>
              <a:rPr lang="en-US" dirty="0"/>
              <a:t>Financial stress</a:t>
            </a:r>
          </a:p>
          <a:p>
            <a:pPr marL="971550" lvl="2" indent="-342900"/>
            <a:r>
              <a:rPr lang="en-US" dirty="0"/>
              <a:t>Age of insured</a:t>
            </a:r>
          </a:p>
          <a:p>
            <a:pPr marL="971550" lvl="2" indent="-342900"/>
            <a:r>
              <a:rPr lang="en-US" dirty="0"/>
              <a:t>Age of beneficiary</a:t>
            </a:r>
          </a:p>
          <a:p>
            <a:pPr marL="971550" lvl="2" indent="-342900"/>
            <a:r>
              <a:rPr lang="en-US" dirty="0"/>
              <a:t>Marital status</a:t>
            </a:r>
          </a:p>
          <a:p>
            <a:pPr marL="971550" lvl="2" indent="-342900"/>
            <a:r>
              <a:rPr lang="en-US" dirty="0"/>
              <a:t>Annual income</a:t>
            </a:r>
          </a:p>
          <a:p>
            <a:pPr marL="971550" lvl="2" indent="-342900"/>
            <a:r>
              <a:rPr lang="en-US" dirty="0"/>
              <a:t>Length of policy/contract</a:t>
            </a:r>
          </a:p>
          <a:p>
            <a:pPr marL="971550" lvl="2" indent="-342900"/>
            <a:r>
              <a:rPr lang="en-US" dirty="0"/>
              <a:t>CRC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741BF-B128-4789-AC03-57D6BA0E4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45BC23-85D4-42C6-80BD-110C51A23BD5}"/>
              </a:ext>
            </a:extLst>
          </p:cNvPr>
          <p:cNvSpPr txBox="1">
            <a:spLocks/>
          </p:cNvSpPr>
          <p:nvPr/>
        </p:nvSpPr>
        <p:spPr>
          <a:xfrm>
            <a:off x="8226137" y="1716763"/>
            <a:ext cx="3595255" cy="3951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 info </a:t>
            </a:r>
          </a:p>
          <a:p>
            <a:pPr marL="971550" lvl="2" indent="-342900"/>
            <a:r>
              <a:rPr lang="en-US" dirty="0"/>
              <a:t>Length of service</a:t>
            </a:r>
          </a:p>
          <a:p>
            <a:pPr marL="971550" lvl="2" indent="-342900"/>
            <a:r>
              <a:rPr lang="en-US" dirty="0"/>
              <a:t>Complaints</a:t>
            </a:r>
          </a:p>
          <a:p>
            <a:pPr marL="971550" lvl="2" indent="-342900"/>
            <a:r>
              <a:rPr lang="en-US" dirty="0"/>
              <a:t>Financial hardship</a:t>
            </a:r>
          </a:p>
          <a:p>
            <a:pPr marL="971550" lvl="2" indent="-342900"/>
            <a:r>
              <a:rPr lang="en-US" dirty="0"/>
              <a:t>Writing agent vs. servicing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Premium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Frequency of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6518A44-F25B-458A-979A-B73816D0FA4A}"/>
              </a:ext>
            </a:extLst>
          </p:cNvPr>
          <p:cNvSpPr txBox="1">
            <a:spLocks/>
          </p:cNvSpPr>
          <p:nvPr/>
        </p:nvSpPr>
        <p:spPr>
          <a:xfrm>
            <a:off x="623450" y="1659731"/>
            <a:ext cx="3595255" cy="3951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 on policyholder</a:t>
            </a:r>
          </a:p>
          <a:p>
            <a:pPr marL="971550" lvl="2" indent="-342900"/>
            <a:r>
              <a:rPr lang="en-US" dirty="0"/>
              <a:t>Region </a:t>
            </a:r>
          </a:p>
          <a:p>
            <a:pPr marL="971550" lvl="2" indent="-342900"/>
            <a:r>
              <a:rPr lang="en-US" dirty="0"/>
              <a:t>State </a:t>
            </a:r>
          </a:p>
          <a:p>
            <a:pPr marL="971550" lvl="2" indent="-342900"/>
            <a:r>
              <a:rPr lang="en-US" dirty="0"/>
              <a:t>Zip code</a:t>
            </a:r>
          </a:p>
          <a:p>
            <a:pPr marL="971550" lvl="2" indent="-342900"/>
            <a:r>
              <a:rPr lang="en-US" dirty="0"/>
              <a:t>Occupation </a:t>
            </a:r>
          </a:p>
          <a:p>
            <a:pPr marL="971550" lvl="2" indent="-342900"/>
            <a:r>
              <a:rPr lang="en-US" dirty="0"/>
              <a:t>Net worth</a:t>
            </a:r>
          </a:p>
          <a:p>
            <a:pPr marL="971550" lvl="2" indent="-342900"/>
            <a:r>
              <a:rPr lang="en-US" dirty="0"/>
              <a:t>Call center contacts</a:t>
            </a:r>
          </a:p>
          <a:p>
            <a:pPr marL="1316038" lvl="3" indent="-342900"/>
            <a:r>
              <a:rPr lang="en-US" dirty="0"/>
              <a:t># of calls</a:t>
            </a:r>
          </a:p>
          <a:p>
            <a:pPr marL="1316038" lvl="3" indent="-342900"/>
            <a:r>
              <a:rPr lang="en-US" dirty="0"/>
              <a:t>Who called</a:t>
            </a:r>
          </a:p>
          <a:p>
            <a:pPr marL="1316038" lvl="3" indent="-342900"/>
            <a:r>
              <a:rPr lang="en-US" dirty="0"/>
              <a:t>Why did they call</a:t>
            </a:r>
          </a:p>
          <a:p>
            <a:pPr marL="1316038" lvl="3" indent="-342900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1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8&quot; unique_id=&quot;10002&quot;&gt;&lt;/object&gt;&lt;object type=&quot;2&quot; unique_id=&quot;10003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RAND v3">
  <a:themeElements>
    <a:clrScheme name="Evolved Brand">
      <a:dk1>
        <a:srgbClr val="4A4A4A"/>
      </a:dk1>
      <a:lt1>
        <a:srgbClr val="FFFFFF"/>
      </a:lt1>
      <a:dk2>
        <a:srgbClr val="0E497B"/>
      </a:dk2>
      <a:lt2>
        <a:srgbClr val="EDF0F3"/>
      </a:lt2>
      <a:accent1>
        <a:srgbClr val="83D4F1"/>
      </a:accent1>
      <a:accent2>
        <a:srgbClr val="FFB81C"/>
      </a:accent2>
      <a:accent3>
        <a:srgbClr val="2DADAA"/>
      </a:accent3>
      <a:accent4>
        <a:srgbClr val="ABD864"/>
      </a:accent4>
      <a:accent5>
        <a:srgbClr val="F36F35"/>
      </a:accent5>
      <a:accent6>
        <a:srgbClr val="4689C4"/>
      </a:accent6>
      <a:hlink>
        <a:srgbClr val="0E497B"/>
      </a:hlink>
      <a:folHlink>
        <a:srgbClr val="83D4F1"/>
      </a:folHlink>
    </a:clrScheme>
    <a:fontScheme name="Custom 4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M_Powerpoint_Template_2018 [Read-Only]" id="{C8EBFCF1-EE91-4736-A987-4C40A0AEB279}" vid="{07B26AE8-FA55-4A9D-9E2E-197C158941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ad31f4bd-1c46-4bb8-8767-007ae9b7adbb">PowerPoint</Category>
    <Content_x0020_CategoryTaxHTField0 xmlns="8a153790-3d69-456d-ab22-54da60b17c30">
      <Terms xmlns="http://schemas.microsoft.com/office/infopath/2007/PartnerControls"/>
    </Content_x0020_CategoryTaxHTField0>
    <PublishingStartDate xmlns="http://schemas.microsoft.com/sharepoint/v3" xsi:nil="true"/>
    <PublishingExpirationDate xmlns="http://schemas.microsoft.com/sharepoint/v3" xsi:nil="true"/>
    <TaxCatchAll xmlns="8a153790-3d69-456d-ab22-54da60b17c30"/>
    <TaxKeywordTaxHTField xmlns="8a153790-3d69-456d-ab22-54da60b17c30">
      <Terms xmlns="http://schemas.microsoft.com/office/infopath/2007/PartnerControls"/>
    </TaxKeyword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/>
</file>

<file path=customXml/item4.xml><?xml version="1.0" encoding="utf-8"?>
<?mso-contentType ?>
<SharedContentType xmlns="Microsoft.SharePoint.Taxonomy.ContentTypeSync" SourceId="a2501156-a27c-43fa-ae5a-0a4129f3d421" ContentTypeId="0x0101" PreviousValue="false"/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1704BA2A9E3F48974B618A29C73026" ma:contentTypeVersion="6" ma:contentTypeDescription="Create a new document." ma:contentTypeScope="" ma:versionID="57965962ec2fd27a3f947c3dc46a05c2">
  <xsd:schema xmlns:xsd="http://www.w3.org/2001/XMLSchema" xmlns:xs="http://www.w3.org/2001/XMLSchema" xmlns:p="http://schemas.microsoft.com/office/2006/metadata/properties" xmlns:ns1="http://schemas.microsoft.com/sharepoint/v3" xmlns:ns2="8a153790-3d69-456d-ab22-54da60b17c30" xmlns:ns3="ad31f4bd-1c46-4bb8-8767-007ae9b7adbb" targetNamespace="http://schemas.microsoft.com/office/2006/metadata/properties" ma:root="true" ma:fieldsID="c0480b12b7c3f0546bd725392dd13825" ns1:_="" ns2:_="" ns3:_="">
    <xsd:import namespace="http://schemas.microsoft.com/sharepoint/v3"/>
    <xsd:import namespace="8a153790-3d69-456d-ab22-54da60b17c30"/>
    <xsd:import namespace="ad31f4bd-1c46-4bb8-8767-007ae9b7adb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2:TaxCatchAllLabel" minOccurs="0"/>
                <xsd:element ref="ns2:Content_x0020_CategoryTaxHTField0" minOccurs="0"/>
                <xsd:element ref="ns1:PublishingStartDate" minOccurs="0"/>
                <xsd:element ref="ns1:PublishingExpirationDate" minOccurs="0"/>
                <xsd:element ref="ns3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7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18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53790-3d69-456d-ab22-54da60b17c3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1" nillable="true" ma:taxonomy="true" ma:internalName="TaxKeywordTaxHTField" ma:taxonomyFieldName="TaxKeyword" ma:displayName="Enterprise Keywords" ma:fieldId="{23f27201-bee3-471e-b2e7-b64fd8b7ca38}" ma:taxonomyMulti="true" ma:sspId="a2501156-a27c-43fa-ae5a-0a4129f3d421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description="" ma:hidden="true" ma:list="{ef48ec04-2b64-4f79-984b-9b10d0dc4b3c}" ma:internalName="TaxCatchAll" ma:showField="CatchAllData" ma:web="25926fc4-6cf1-4465-949b-1a5e27a930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description="" ma:hidden="true" ma:list="{ef48ec04-2b64-4f79-984b-9b10d0dc4b3c}" ma:internalName="TaxCatchAllLabel" ma:readOnly="true" ma:showField="CatchAllDataLabel" ma:web="25926fc4-6cf1-4465-949b-1a5e27a930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ntent_x0020_CategoryTaxHTField0" ma:index="15" nillable="true" ma:taxonomy="true" ma:internalName="Content_x0020_CategoryTaxHTField0" ma:taxonomyFieldName="Content_x0020_Category" ma:displayName="Content Category" ma:default="" ma:fieldId="{bef93be0-1af2-46e3-b798-57d46b0295e6}" ma:sspId="a2501156-a27c-43fa-ae5a-0a4129f3d421" ma:termSetId="f7d89fd8-8344-4d42-88ae-561b007a4fae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31f4bd-1c46-4bb8-8767-007ae9b7adbb" elementFormDefault="qualified">
    <xsd:import namespace="http://schemas.microsoft.com/office/2006/documentManagement/types"/>
    <xsd:import namespace="http://schemas.microsoft.com/office/infopath/2007/PartnerControls"/>
    <xsd:element name="Category" ma:index="19" nillable="true" ma:displayName="Topic" ma:format="Dropdown" ma:internalName="Category">
      <xsd:simpleType>
        <xsd:restriction base="dms:Choice">
          <xsd:enumeration value="Brand Guidelines"/>
          <xsd:enumeration value="Client Communications"/>
          <xsd:enumeration value="Email Signatures"/>
          <xsd:enumeration value="Iconography"/>
          <xsd:enumeration value="Logos"/>
          <xsd:enumeration value="PowerPoint"/>
          <xsd:enumeration value="Signage"/>
          <xsd:enumeration value="Wor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1A7C24-DFC8-42E9-8015-D265E62F8B6C}">
  <ds:schemaRefs>
    <ds:schemaRef ds:uri="http://schemas.microsoft.com/office/2006/metadata/properties"/>
    <ds:schemaRef ds:uri="http://purl.org/dc/terms/"/>
    <ds:schemaRef ds:uri="8a153790-3d69-456d-ab22-54da60b17c3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ad31f4bd-1c46-4bb8-8767-007ae9b7adbb"/>
    <ds:schemaRef ds:uri="http://schemas.microsoft.com/sharepoint/v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002C322-576A-4B43-96DC-7369578D69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982128-369A-41FE-8F89-C5F820D2777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839CD03-B78F-4D5D-96E8-058B020A6B9D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B0B72F9C-0733-4420-890C-4A0C55AA03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a153790-3d69-456d-ab22-54da60b17c30"/>
    <ds:schemaRef ds:uri="ad31f4bd-1c46-4bb8-8767-007ae9b7ad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</TotalTime>
  <Words>349</Words>
  <Application>Microsoft Macintosh PowerPoint</Application>
  <PresentationFormat>Widescreen</PresentationFormat>
  <Paragraphs>130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</vt:lpstr>
      <vt:lpstr>Calibri Light</vt:lpstr>
      <vt:lpstr>BRAND v3</vt:lpstr>
      <vt:lpstr>PowerPoint Presentation</vt:lpstr>
      <vt:lpstr>BUSINESS PROBLEM</vt:lpstr>
      <vt:lpstr>PowerPoint Presentation</vt:lpstr>
      <vt:lpstr>PowerPoint Presentation</vt:lpstr>
      <vt:lpstr>PowerPoint Presentation</vt:lpstr>
      <vt:lpstr>PowerPoint Presentation</vt:lpstr>
      <vt:lpstr>TRENDING</vt:lpstr>
      <vt:lpstr>PowerPoint Presentation</vt:lpstr>
      <vt:lpstr>BUSINESS VALUE</vt:lpstr>
      <vt:lpstr>PowerPoint Presentation</vt:lpstr>
      <vt:lpstr>SOLUTION</vt:lpstr>
      <vt:lpstr>NEXT STEPS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Murphy</dc:creator>
  <cp:keywords/>
  <dc:description/>
  <cp:lastModifiedBy>NATEKAR, ANANT</cp:lastModifiedBy>
  <cp:revision>61</cp:revision>
  <cp:lastPrinted>2017-03-30T19:45:01Z</cp:lastPrinted>
  <dcterms:created xsi:type="dcterms:W3CDTF">2018-05-21T15:08:05Z</dcterms:created>
  <dcterms:modified xsi:type="dcterms:W3CDTF">2020-03-30T17:13:42Z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 Category">
    <vt:lpwstr/>
  </property>
  <property fmtid="{D5CDD505-2E9C-101B-9397-08002B2CF9AE}" pid="3" name="TaxKeyword">
    <vt:lpwstr/>
  </property>
  <property fmtid="{D5CDD505-2E9C-101B-9397-08002B2CF9AE}" pid="4" name="ContentTypeId">
    <vt:lpwstr>0x0101000A1704BA2A9E3F48974B618A29C73026</vt:lpwstr>
  </property>
</Properties>
</file>